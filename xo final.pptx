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rben" charset="1" panose="020F0503020000020004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Corben Bold" charset="1" panose="020F050502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2D9F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0438" y="760962"/>
            <a:ext cx="6579460" cy="8772982"/>
            <a:chOff x="0" y="0"/>
            <a:chExt cx="8772614" cy="1169731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72652" cy="11697335"/>
            </a:xfrm>
            <a:custGeom>
              <a:avLst/>
              <a:gdLst/>
              <a:ahLst/>
              <a:cxnLst/>
              <a:rect r="r" b="b" t="t" l="l"/>
              <a:pathLst>
                <a:path h="11697335" w="8772652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" r="0" b="-1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2091947"/>
            <a:ext cx="9452677" cy="180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SonicCast – Acoustic One-to-Many Communication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4205087"/>
            <a:ext cx="10367762" cy="49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2"/>
              </a:lnSpc>
            </a:pPr>
            <a:r>
              <a:rPr lang="en-US" sz="2576" b="true">
                <a:solidFill>
                  <a:srgbClr val="4967E9"/>
                </a:solidFill>
                <a:latin typeface="Arimo Bold"/>
                <a:ea typeface="Arimo Bold"/>
                <a:cs typeface="Arimo Bold"/>
                <a:sym typeface="Arimo Bold"/>
              </a:rPr>
              <a:t>Project Name:</a:t>
            </a: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SonicCast  |  </a:t>
            </a:r>
            <a:r>
              <a:rPr lang="en-US" sz="2576" b="true">
                <a:solidFill>
                  <a:srgbClr val="4967E9"/>
                </a:solidFill>
                <a:latin typeface="Arimo Bold"/>
                <a:ea typeface="Arimo Bold"/>
                <a:cs typeface="Arimo Bold"/>
                <a:sym typeface="Arimo Bold"/>
              </a:rPr>
              <a:t>Team Name:</a:t>
            </a: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Sparkz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5366776"/>
            <a:ext cx="4380195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Team Members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5988996"/>
            <a:ext cx="4380195" cy="104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791" indent="-242396" lvl="1">
              <a:lnSpc>
                <a:spcPts val="4271"/>
              </a:lnSpc>
              <a:buFont typeface="Arial"/>
              <a:buChar char="•"/>
            </a:pPr>
            <a:r>
              <a:rPr lang="en-US" sz="26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Selvamuthukkumaran K</a:t>
            </a:r>
          </a:p>
          <a:p>
            <a:pPr algn="l" marL="484791" indent="-242396" lvl="1">
              <a:lnSpc>
                <a:spcPts val="4271"/>
              </a:lnSpc>
              <a:buFont typeface="Arial"/>
              <a:buChar char="•"/>
            </a:pPr>
            <a:r>
              <a:rPr lang="en-US" sz="26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Salma A 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4997" y="5366776"/>
            <a:ext cx="4380195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Institution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74997" y="6008046"/>
            <a:ext cx="4380195" cy="188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37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Department:</a:t>
            </a:r>
            <a:r>
              <a:rPr lang="en-US" sz="23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Information Technology</a:t>
            </a:r>
          </a:p>
          <a:p>
            <a:pPr algn="l">
              <a:lnSpc>
                <a:spcPts val="3793"/>
              </a:lnSpc>
            </a:pPr>
            <a:r>
              <a:rPr lang="en-US" sz="237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College:</a:t>
            </a:r>
            <a:r>
              <a:rPr lang="en-US" sz="23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Manakula Vinayagar Institute of Technology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91" y="1019175"/>
            <a:ext cx="3957723" cy="65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  <a:spcBef>
                <a:spcPct val="0"/>
              </a:spcBef>
            </a:pPr>
            <a:r>
              <a:rPr lang="en-US" sz="4276">
                <a:solidFill>
                  <a:srgbClr val="001E9E"/>
                </a:solidFill>
                <a:latin typeface="Corben"/>
                <a:ea typeface="Corben"/>
                <a:cs typeface="Corben"/>
                <a:sym typeface="Corben"/>
              </a:rPr>
              <a:t>X’O  Code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2D9F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789" y="760962"/>
            <a:ext cx="6579460" cy="8772982"/>
            <a:chOff x="0" y="0"/>
            <a:chExt cx="8772614" cy="1169731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72652" cy="11697335"/>
            </a:xfrm>
            <a:custGeom>
              <a:avLst/>
              <a:gdLst/>
              <a:ahLst/>
              <a:cxnLst/>
              <a:rect r="r" b="b" t="t" l="l"/>
              <a:pathLst>
                <a:path h="11697335" w="8772652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" r="0" b="-1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834704"/>
            <a:ext cx="9452677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2061181"/>
            <a:ext cx="9452677" cy="564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680" indent="-233340" lvl="1">
              <a:lnSpc>
                <a:spcPts val="4112"/>
              </a:lnSpc>
              <a:buFont typeface="Arial"/>
              <a:buChar char="•"/>
            </a:pP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Most smartphone communication systems depend on </a:t>
            </a:r>
            <a:r>
              <a:rPr lang="en-US" b="true" sz="2576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Internet, Wi-Fi, Bluetooth, or mobile networks</a:t>
            </a: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 marL="466680" indent="-233340" lvl="1">
              <a:lnSpc>
                <a:spcPts val="4112"/>
              </a:lnSpc>
              <a:buFont typeface="Arial"/>
              <a:buChar char="•"/>
            </a:pP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Communication becomes difficult when network connectivity is unavailable.</a:t>
            </a:r>
          </a:p>
          <a:p>
            <a:pPr algn="l" marL="466680" indent="-233340" lvl="1">
              <a:lnSpc>
                <a:spcPts val="4112"/>
              </a:lnSpc>
              <a:buFont typeface="Arial"/>
              <a:buChar char="•"/>
            </a:pP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In emergency, remote, or infrastructure-limited environments, conventional communication methods may fail.</a:t>
            </a:r>
          </a:p>
          <a:p>
            <a:pPr algn="l" marL="466680" indent="-233340" lvl="1">
              <a:lnSpc>
                <a:spcPts val="4112"/>
              </a:lnSpc>
              <a:buFont typeface="Arial"/>
              <a:buChar char="•"/>
            </a:pP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There is a need for a </a:t>
            </a:r>
            <a:r>
              <a:rPr lang="en-US" b="true" sz="2576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simple, offline, short-range communication method</a:t>
            </a: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using hardware already available in smartphones.</a:t>
            </a:r>
          </a:p>
          <a:p>
            <a:pPr algn="l" marL="466680" indent="-233340" lvl="1">
              <a:lnSpc>
                <a:spcPts val="4112"/>
              </a:lnSpc>
              <a:buFont typeface="Arial"/>
              <a:buChar char="•"/>
            </a:pP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One sender should be able to communicate with </a:t>
            </a:r>
            <a:r>
              <a:rPr lang="en-US" b="true" sz="2576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multiple nearby receivers simultaneously</a:t>
            </a:r>
            <a:r>
              <a:rPr lang="en-US" sz="257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3432" y="459905"/>
            <a:ext cx="16315868" cy="56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377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SonicCast – Proposed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755" y="1639453"/>
            <a:ext cx="16230600" cy="77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8"/>
              </a:lnSpc>
            </a:pPr>
            <a:r>
              <a:rPr lang="en-US" sz="23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SonicCast is an </a:t>
            </a:r>
            <a:r>
              <a:rPr lang="en-US" sz="2351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offline acoustic communication system</a:t>
            </a:r>
            <a:r>
              <a:rPr lang="en-US" sz="23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that uses smartphone speakers and microphones to transmit data through sound.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0161" y="2139870"/>
            <a:ext cx="16181375" cy="7169751"/>
            <a:chOff x="0" y="0"/>
            <a:chExt cx="21575166" cy="955966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575140" cy="9559694"/>
            </a:xfrm>
            <a:custGeom>
              <a:avLst/>
              <a:gdLst/>
              <a:ahLst/>
              <a:cxnLst/>
              <a:rect r="r" b="b" t="t" l="l"/>
              <a:pathLst>
                <a:path h="9559694" w="21575140">
                  <a:moveTo>
                    <a:pt x="0" y="0"/>
                  </a:moveTo>
                  <a:lnTo>
                    <a:pt x="21575140" y="0"/>
                  </a:lnTo>
                  <a:lnTo>
                    <a:pt x="21575140" y="9559694"/>
                  </a:lnTo>
                  <a:lnTo>
                    <a:pt x="0" y="9559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21" t="0" r="-132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49050" y="7535809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Demod &amp; Verify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9050" y="5920530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Acoustic Tx/Rx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9050" y="4321578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4-FSK Modulate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49050" y="2706310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Corben"/>
                <a:ea typeface="Corben"/>
                <a:cs typeface="Corben"/>
                <a:sym typeface="Corben"/>
              </a:rPr>
              <a:t>Encode &amp; CRC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65755" y="9136847"/>
            <a:ext cx="216113" cy="172774"/>
            <a:chOff x="0" y="0"/>
            <a:chExt cx="288150" cy="230365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88163" cy="230378"/>
            </a:xfrm>
            <a:custGeom>
              <a:avLst/>
              <a:gdLst/>
              <a:ahLst/>
              <a:cxnLst/>
              <a:rect r="r" b="b" t="t" l="l"/>
              <a:pathLst>
                <a:path h="230378" w="288163">
                  <a:moveTo>
                    <a:pt x="0" y="0"/>
                  </a:moveTo>
                  <a:lnTo>
                    <a:pt x="288163" y="0"/>
                  </a:lnTo>
                  <a:lnTo>
                    <a:pt x="288163" y="230378"/>
                  </a:lnTo>
                  <a:lnTo>
                    <a:pt x="0" y="230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64" r="4" b="-165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1446"/>
            <a:ext cx="16315868" cy="71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Approach / Methodology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879530"/>
            <a:ext cx="443246" cy="277035"/>
            <a:chOff x="0" y="0"/>
            <a:chExt cx="590994" cy="3693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2991" y="2227612"/>
            <a:ext cx="8071399" cy="28594"/>
            <a:chOff x="0" y="0"/>
            <a:chExt cx="10761866" cy="38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2386098"/>
            <a:ext cx="2624053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Message Creation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2798112"/>
            <a:ext cx="8071399" cy="3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User enters a message through the React interface.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7459" y="1879530"/>
            <a:ext cx="443246" cy="277035"/>
            <a:chOff x="0" y="0"/>
            <a:chExt cx="590994" cy="369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37459" y="2227612"/>
            <a:ext cx="8071399" cy="28594"/>
            <a:chOff x="0" y="0"/>
            <a:chExt cx="10761866" cy="381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37459" y="2386098"/>
            <a:ext cx="2660452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Packet Formation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37459" y="2798112"/>
            <a:ext cx="8071399" cy="7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Message is converted into a structured packet: Header, Length, Sequence Number, Payload, CRC-16.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991" y="3816553"/>
            <a:ext cx="443246" cy="277035"/>
            <a:chOff x="0" y="0"/>
            <a:chExt cx="590994" cy="3693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2991" y="4164635"/>
            <a:ext cx="8071399" cy="28594"/>
            <a:chOff x="0" y="0"/>
            <a:chExt cx="10761866" cy="381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2991" y="4323121"/>
            <a:ext cx="2469611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Synchronization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991" y="4735135"/>
            <a:ext cx="8071399" cy="7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0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preamble and synchronization sequence</a:t>
            </a: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help receivers detect the beginning of a transmission.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37459" y="3816553"/>
            <a:ext cx="443246" cy="277035"/>
            <a:chOff x="0" y="0"/>
            <a:chExt cx="590994" cy="3693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37459" y="4164635"/>
            <a:ext cx="8071399" cy="28594"/>
            <a:chOff x="0" y="0"/>
            <a:chExt cx="10761866" cy="381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237459" y="4323121"/>
            <a:ext cx="2698041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4-FSK Modulation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37459" y="4735135"/>
            <a:ext cx="8071399" cy="3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The digital data is converted into four different audio frequencies.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92991" y="5753576"/>
            <a:ext cx="443246" cy="277035"/>
            <a:chOff x="0" y="0"/>
            <a:chExt cx="590994" cy="3693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2991" y="6101658"/>
            <a:ext cx="8071399" cy="28594"/>
            <a:chOff x="0" y="0"/>
            <a:chExt cx="10761866" cy="381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92991" y="6260144"/>
            <a:ext cx="3394727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Acoustic Transmission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2991" y="6672158"/>
            <a:ext cx="8071399" cy="7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The sender uses </a:t>
            </a:r>
            <a:r>
              <a:rPr lang="en-US" sz="20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Android AudioTrack</a:t>
            </a: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to produce the sound through the speaker.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37459" y="5753576"/>
            <a:ext cx="443246" cy="277035"/>
            <a:chOff x="0" y="0"/>
            <a:chExt cx="590994" cy="3693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06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37459" y="6101658"/>
            <a:ext cx="8071399" cy="28594"/>
            <a:chOff x="0" y="0"/>
            <a:chExt cx="10761866" cy="381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237459" y="6260144"/>
            <a:ext cx="3245814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Reception &amp; Decoding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237459" y="6672158"/>
            <a:ext cx="8071399" cy="7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Receiver phones capture sound using </a:t>
            </a:r>
            <a:r>
              <a:rPr lang="en-US" sz="20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AudioRecord</a:t>
            </a: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and demodulate the signal.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92991" y="7690599"/>
            <a:ext cx="443246" cy="277035"/>
            <a:chOff x="0" y="0"/>
            <a:chExt cx="590994" cy="3693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07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92991" y="8038681"/>
            <a:ext cx="8071399" cy="28594"/>
            <a:chOff x="0" y="0"/>
            <a:chExt cx="10761866" cy="3812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92991" y="8197167"/>
            <a:ext cx="2293144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Error Detection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2991" y="8609181"/>
            <a:ext cx="8071399" cy="3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CRC-16 verifies whether the received packet is correct.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237459" y="7690599"/>
            <a:ext cx="443246" cy="277035"/>
            <a:chOff x="0" y="0"/>
            <a:chExt cx="590994" cy="3693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590994" cy="369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404155"/>
                  </a:solidFill>
                  <a:latin typeface="Corben"/>
                  <a:ea typeface="Corben"/>
                  <a:cs typeface="Corben"/>
                  <a:sym typeface="Corben"/>
                </a:rPr>
                <a:t>08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37459" y="8038681"/>
            <a:ext cx="8071399" cy="28594"/>
            <a:chOff x="0" y="0"/>
            <a:chExt cx="10761866" cy="3812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61853" cy="38100"/>
            </a:xfrm>
            <a:custGeom>
              <a:avLst/>
              <a:gdLst/>
              <a:ahLst/>
              <a:cxnLst/>
              <a:rect r="r" b="b" t="t" l="l"/>
              <a:pathLst>
                <a:path h="38100" w="10761853">
                  <a:moveTo>
                    <a:pt x="0" y="0"/>
                  </a:moveTo>
                  <a:lnTo>
                    <a:pt x="10761853" y="0"/>
                  </a:lnTo>
                  <a:lnTo>
                    <a:pt x="107618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237459" y="8197167"/>
            <a:ext cx="2584252" cy="3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4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Reliability &amp; ACK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237459" y="8609181"/>
            <a:ext cx="8071399" cy="7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Incorrect or lost packets trigger </a:t>
            </a:r>
            <a:r>
              <a:rPr lang="en-US" sz="20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retransmission</a:t>
            </a: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. Receivers send an </a:t>
            </a:r>
            <a:r>
              <a:rPr lang="en-US" sz="20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acoustic ACK</a:t>
            </a:r>
            <a:r>
              <a:rPr lang="en-US" sz="20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after successful reception.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64641"/>
            <a:ext cx="16315868" cy="71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Technology &amp; Tools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92988" y="2031007"/>
          <a:ext cx="7854737" cy="6939622"/>
        </p:xfrm>
        <a:graphic>
          <a:graphicData uri="http://schemas.openxmlformats.org/drawingml/2006/table">
            <a:tbl>
              <a:tblPr/>
              <a:tblGrid>
                <a:gridCol w="3927368"/>
                <a:gridCol w="3927368"/>
              </a:tblGrid>
              <a:tr h="529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40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Component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40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Technology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Frontend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React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Programming Language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JavaScript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Styling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CSS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Android Packaging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Capacitor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Native Layer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Kotlin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Speaker Output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Android AudioTrack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Microphone Input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Android AudioRecord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Modulation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4-FSK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Synchronization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Preamble + Sync Detection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Error Detection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CRC-16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Error Recovery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Retransmission + Optional FEC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Receiver Confirmation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40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Acoustic ACK</a:t>
                      </a:r>
                      <a:endParaRPr lang="en-US" sz="1100"/>
                    </a:p>
                  </a:txBody>
                  <a:tcPr marL="147671" marR="147671" marT="147671" marB="147671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92991" y="2564359"/>
            <a:ext cx="7887605" cy="13859"/>
            <a:chOff x="0" y="0"/>
            <a:chExt cx="10516806" cy="18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3116332"/>
            <a:ext cx="7887605" cy="13859"/>
            <a:chOff x="0" y="0"/>
            <a:chExt cx="10516806" cy="184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2991" y="3668306"/>
            <a:ext cx="7887605" cy="13859"/>
            <a:chOff x="0" y="0"/>
            <a:chExt cx="10516806" cy="184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991" y="4220280"/>
            <a:ext cx="7887605" cy="13859"/>
            <a:chOff x="0" y="0"/>
            <a:chExt cx="10516806" cy="18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2991" y="4772254"/>
            <a:ext cx="7887605" cy="13859"/>
            <a:chOff x="0" y="0"/>
            <a:chExt cx="10516806" cy="184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2991" y="5324237"/>
            <a:ext cx="7887605" cy="13859"/>
            <a:chOff x="0" y="0"/>
            <a:chExt cx="10516806" cy="184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2991" y="5876211"/>
            <a:ext cx="7887605" cy="13859"/>
            <a:chOff x="0" y="0"/>
            <a:chExt cx="10516806" cy="184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2991" y="6428184"/>
            <a:ext cx="7887605" cy="13859"/>
            <a:chOff x="0" y="0"/>
            <a:chExt cx="10516806" cy="184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2991" y="6980158"/>
            <a:ext cx="7887605" cy="13859"/>
            <a:chOff x="0" y="0"/>
            <a:chExt cx="10516806" cy="184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2991" y="7532132"/>
            <a:ext cx="7887605" cy="13859"/>
            <a:chOff x="0" y="0"/>
            <a:chExt cx="10516806" cy="184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2991" y="8084106"/>
            <a:ext cx="7887605" cy="13859"/>
            <a:chOff x="0" y="0"/>
            <a:chExt cx="10516806" cy="184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92991" y="8636079"/>
            <a:ext cx="7887605" cy="13859"/>
            <a:chOff x="0" y="0"/>
            <a:chExt cx="10516806" cy="184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16743" cy="18415"/>
            </a:xfrm>
            <a:custGeom>
              <a:avLst/>
              <a:gdLst/>
              <a:ahLst/>
              <a:cxnLst/>
              <a:rect r="r" b="b" t="t" l="l"/>
              <a:pathLst>
                <a:path h="18415" w="10516743">
                  <a:moveTo>
                    <a:pt x="0" y="0"/>
                  </a:moveTo>
                  <a:lnTo>
                    <a:pt x="10516743" y="0"/>
                  </a:lnTo>
                  <a:lnTo>
                    <a:pt x="10516743" y="18415"/>
                  </a:lnTo>
                  <a:lnTo>
                    <a:pt x="0" y="18415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573160" y="1323426"/>
            <a:ext cx="3375932" cy="45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4"/>
              </a:lnSpc>
            </a:pPr>
            <a:r>
              <a:rPr lang="en-US" sz="2976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Development Tools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59354" y="2452430"/>
            <a:ext cx="7887605" cy="339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781" indent="-246890" lvl="1">
              <a:lnSpc>
                <a:spcPts val="3893"/>
              </a:lnSpc>
              <a:buFont typeface="Arial"/>
              <a:buChar char="•"/>
            </a:pPr>
            <a:r>
              <a:rPr lang="en-US" sz="27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Visual Studio Code</a:t>
            </a:r>
          </a:p>
          <a:p>
            <a:pPr algn="l" marL="493781" indent="-246890" lvl="1">
              <a:lnSpc>
                <a:spcPts val="3893"/>
              </a:lnSpc>
              <a:buFont typeface="Arial"/>
              <a:buChar char="•"/>
            </a:pPr>
            <a:r>
              <a:rPr lang="en-US" sz="27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Node.js &amp; npm</a:t>
            </a:r>
          </a:p>
          <a:p>
            <a:pPr algn="l" marL="493781" indent="-246890" lvl="1">
              <a:lnSpc>
                <a:spcPts val="3893"/>
              </a:lnSpc>
              <a:buFont typeface="Arial"/>
              <a:buChar char="•"/>
            </a:pPr>
            <a:r>
              <a:rPr lang="en-US" sz="27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Android Studio</a:t>
            </a:r>
          </a:p>
          <a:p>
            <a:pPr algn="l" marL="493781" indent="-246890" lvl="1">
              <a:lnSpc>
                <a:spcPts val="3893"/>
              </a:lnSpc>
              <a:buFont typeface="Arial"/>
              <a:buChar char="•"/>
            </a:pPr>
            <a:r>
              <a:rPr lang="en-US" sz="27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Android SDK</a:t>
            </a:r>
          </a:p>
          <a:p>
            <a:pPr algn="l" marL="493781" indent="-246890" lvl="1">
              <a:lnSpc>
                <a:spcPts val="3893"/>
              </a:lnSpc>
              <a:buFont typeface="Arial"/>
              <a:buChar char="•"/>
            </a:pPr>
            <a:r>
              <a:rPr lang="en-US" sz="27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Kotlin</a:t>
            </a:r>
          </a:p>
          <a:p>
            <a:pPr algn="l" marL="493781" indent="-246890" lvl="1">
              <a:lnSpc>
                <a:spcPts val="3893"/>
              </a:lnSpc>
              <a:buFont typeface="Arial"/>
              <a:buChar char="•"/>
            </a:pPr>
            <a:r>
              <a:rPr lang="en-US" sz="27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Gradle</a:t>
            </a:r>
          </a:p>
          <a:p>
            <a:pPr algn="l" marL="493781" indent="-246890" lvl="1">
              <a:lnSpc>
                <a:spcPts val="3893"/>
              </a:lnSpc>
              <a:buFont typeface="Arial"/>
              <a:buChar char="•"/>
            </a:pPr>
            <a:r>
              <a:rPr lang="en-US" sz="27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JDK 17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2D9F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043" y="722681"/>
            <a:ext cx="6637096" cy="8849687"/>
            <a:chOff x="0" y="0"/>
            <a:chExt cx="8849462" cy="1179958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49487" cy="11799570"/>
            </a:xfrm>
            <a:custGeom>
              <a:avLst/>
              <a:gdLst/>
              <a:ahLst/>
              <a:cxnLst/>
              <a:rect r="r" b="b" t="t" l="l"/>
              <a:pathLst>
                <a:path h="11799570" w="8849487">
                  <a:moveTo>
                    <a:pt x="0" y="0"/>
                  </a:moveTo>
                  <a:lnTo>
                    <a:pt x="8849487" y="0"/>
                  </a:lnTo>
                  <a:lnTo>
                    <a:pt x="8849487" y="11799570"/>
                  </a:lnTo>
                  <a:lnTo>
                    <a:pt x="0" y="1179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824722"/>
            <a:ext cx="9452677" cy="72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Feasibility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1410" y="1815636"/>
            <a:ext cx="4645762" cy="4056059"/>
            <a:chOff x="0" y="0"/>
            <a:chExt cx="6194349" cy="5408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94298" cy="5408041"/>
            </a:xfrm>
            <a:custGeom>
              <a:avLst/>
              <a:gdLst/>
              <a:ahLst/>
              <a:cxnLst/>
              <a:rect r="r" b="b" t="t" l="l"/>
              <a:pathLst>
                <a:path h="5408041" w="6194298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6067425" y="0"/>
                  </a:lnTo>
                  <a:cubicBezTo>
                    <a:pt x="6137529" y="0"/>
                    <a:pt x="6194298" y="56769"/>
                    <a:pt x="6194298" y="126873"/>
                  </a:cubicBezTo>
                  <a:lnTo>
                    <a:pt x="6194298" y="5281168"/>
                  </a:lnTo>
                  <a:cubicBezTo>
                    <a:pt x="6194298" y="5351272"/>
                    <a:pt x="6137529" y="5408041"/>
                    <a:pt x="6067425" y="5408041"/>
                  </a:cubicBezTo>
                  <a:lnTo>
                    <a:pt x="126873" y="5408041"/>
                  </a:lnTo>
                  <a:cubicBezTo>
                    <a:pt x="56769" y="5408041"/>
                    <a:pt x="0" y="5351272"/>
                    <a:pt x="0" y="5281168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056207" y="1939718"/>
            <a:ext cx="2670827" cy="33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Technical Feasibility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91802" y="2460165"/>
            <a:ext cx="4164978" cy="308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892" indent="-174446" lvl="1">
              <a:lnSpc>
                <a:spcPts val="2773"/>
              </a:lnSpc>
              <a:buFont typeface="Arial"/>
              <a:buChar char="•"/>
            </a:pPr>
            <a:r>
              <a:rPr lang="en-US" sz="19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Uses </a:t>
            </a:r>
            <a:r>
              <a:rPr lang="en-US" b="true" sz="1926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existing smartphone hardware</a:t>
            </a:r>
          </a:p>
          <a:p>
            <a:pPr algn="l" marL="348892" indent="-174446" lvl="1">
              <a:lnSpc>
                <a:spcPts val="2773"/>
              </a:lnSpc>
              <a:buFont typeface="Arial"/>
              <a:buChar char="•"/>
            </a:pPr>
            <a:r>
              <a:rPr lang="en-US" sz="19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No special communication hardware required</a:t>
            </a:r>
          </a:p>
          <a:p>
            <a:pPr algn="l" marL="348892" indent="-174446" lvl="1">
              <a:lnSpc>
                <a:spcPts val="2773"/>
              </a:lnSpc>
              <a:buFont typeface="Arial"/>
              <a:buChar char="•"/>
            </a:pPr>
            <a:r>
              <a:rPr lang="en-US" sz="19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Android native APIs for speaker and microphone</a:t>
            </a:r>
          </a:p>
          <a:p>
            <a:pPr algn="l" marL="348892" indent="-174446" lvl="1">
              <a:lnSpc>
                <a:spcPts val="2773"/>
              </a:lnSpc>
              <a:buFont typeface="Arial"/>
              <a:buChar char="•"/>
            </a:pPr>
            <a:r>
              <a:rPr lang="en-US" sz="19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React + Capacitor enables cross-platform architecture with native Android integration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67707" y="1815636"/>
            <a:ext cx="4645904" cy="4056059"/>
            <a:chOff x="0" y="0"/>
            <a:chExt cx="6194539" cy="54080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94552" cy="5408041"/>
            </a:xfrm>
            <a:custGeom>
              <a:avLst/>
              <a:gdLst/>
              <a:ahLst/>
              <a:cxnLst/>
              <a:rect r="r" b="b" t="t" l="l"/>
              <a:pathLst>
                <a:path h="5408041" w="6194552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6067679" y="0"/>
                  </a:lnTo>
                  <a:cubicBezTo>
                    <a:pt x="6137783" y="0"/>
                    <a:pt x="6194552" y="56769"/>
                    <a:pt x="6194552" y="126873"/>
                  </a:cubicBezTo>
                  <a:lnTo>
                    <a:pt x="6194552" y="5281168"/>
                  </a:lnTo>
                  <a:cubicBezTo>
                    <a:pt x="6194552" y="5351272"/>
                    <a:pt x="6137783" y="5408041"/>
                    <a:pt x="6067679" y="5408041"/>
                  </a:cubicBezTo>
                  <a:lnTo>
                    <a:pt x="126873" y="5408041"/>
                  </a:lnTo>
                  <a:cubicBezTo>
                    <a:pt x="56769" y="5408041"/>
                    <a:pt x="0" y="5351272"/>
                    <a:pt x="0" y="5281168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822755" y="1916057"/>
            <a:ext cx="4165130" cy="3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Operational Feasibility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08099" y="2460165"/>
            <a:ext cx="4165130" cy="265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5114" indent="-192557" lvl="1">
              <a:lnSpc>
                <a:spcPts val="3061"/>
              </a:lnSpc>
              <a:buFont typeface="Arial"/>
              <a:buChar char="•"/>
            </a:pPr>
            <a:r>
              <a:rPr lang="en-US" sz="21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Simple Sender and Receiver interfaces</a:t>
            </a:r>
          </a:p>
          <a:p>
            <a:pPr algn="l" marL="385114" indent="-192557" lvl="1">
              <a:lnSpc>
                <a:spcPts val="3061"/>
              </a:lnSpc>
              <a:buFont typeface="Arial"/>
              <a:buChar char="•"/>
            </a:pPr>
            <a:r>
              <a:rPr lang="en-US" sz="21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Works locally without network infrastructure</a:t>
            </a:r>
          </a:p>
          <a:p>
            <a:pPr algn="l" marL="385114" indent="-192557" lvl="1">
              <a:lnSpc>
                <a:spcPts val="3061"/>
              </a:lnSpc>
              <a:buFont typeface="Arial"/>
              <a:buChar char="•"/>
            </a:pPr>
            <a:r>
              <a:rPr lang="en-US" sz="21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Multiple nearby phones can listen to the same acoustic broadcast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66066" y="6138396"/>
            <a:ext cx="9462211" cy="3433972"/>
            <a:chOff x="0" y="0"/>
            <a:chExt cx="12616282" cy="45786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16307" cy="4578611"/>
            </a:xfrm>
            <a:custGeom>
              <a:avLst/>
              <a:gdLst/>
              <a:ahLst/>
              <a:cxnLst/>
              <a:rect r="r" b="b" t="t" l="l"/>
              <a:pathLst>
                <a:path h="4578611" w="12616307">
                  <a:moveTo>
                    <a:pt x="0" y="179571"/>
                  </a:moveTo>
                  <a:cubicBezTo>
                    <a:pt x="0" y="80367"/>
                    <a:pt x="56896" y="0"/>
                    <a:pt x="127127" y="0"/>
                  </a:cubicBezTo>
                  <a:lnTo>
                    <a:pt x="12489180" y="0"/>
                  </a:lnTo>
                  <a:cubicBezTo>
                    <a:pt x="12559412" y="0"/>
                    <a:pt x="12616307" y="80367"/>
                    <a:pt x="12616307" y="179571"/>
                  </a:cubicBezTo>
                  <a:lnTo>
                    <a:pt x="12616307" y="4399040"/>
                  </a:lnTo>
                  <a:cubicBezTo>
                    <a:pt x="12616307" y="4498244"/>
                    <a:pt x="12559412" y="4578611"/>
                    <a:pt x="12489180" y="4578611"/>
                  </a:cubicBezTo>
                  <a:lnTo>
                    <a:pt x="127127" y="4578611"/>
                  </a:lnTo>
                  <a:cubicBezTo>
                    <a:pt x="56896" y="4578611"/>
                    <a:pt x="0" y="4498244"/>
                    <a:pt x="0" y="4399040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091802" y="6263573"/>
            <a:ext cx="3349143" cy="42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267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Economic Feasibility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28482" y="6838794"/>
            <a:ext cx="8981427" cy="159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3225" indent="-201613" lvl="1">
              <a:lnSpc>
                <a:spcPts val="3205"/>
              </a:lnSpc>
              <a:buFont typeface="Arial"/>
              <a:buChar char="•"/>
            </a:pPr>
            <a:r>
              <a:rPr lang="en-US" sz="22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No server or cloud infrastructure</a:t>
            </a:r>
          </a:p>
          <a:p>
            <a:pPr algn="l" marL="403225" indent="-201613" lvl="1">
              <a:lnSpc>
                <a:spcPts val="3205"/>
              </a:lnSpc>
              <a:buFont typeface="Arial"/>
              <a:buChar char="•"/>
            </a:pPr>
            <a:r>
              <a:rPr lang="en-US" sz="22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No paid communication service</a:t>
            </a:r>
          </a:p>
          <a:p>
            <a:pPr algn="l" marL="403225" indent="-201613" lvl="1">
              <a:lnSpc>
                <a:spcPts val="3205"/>
              </a:lnSpc>
              <a:buFont typeface="Arial"/>
              <a:buChar char="•"/>
            </a:pPr>
            <a:r>
              <a:rPr lang="en-US" sz="22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No external hardware required</a:t>
            </a:r>
          </a:p>
          <a:p>
            <a:pPr algn="l" marL="403225" indent="-201613" lvl="1">
              <a:lnSpc>
                <a:spcPts val="3205"/>
              </a:lnSpc>
              <a:buFont typeface="Arial"/>
              <a:buChar char="•"/>
            </a:pPr>
            <a:r>
              <a:rPr lang="en-US" sz="22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Development using commonly available software tools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95376"/>
            <a:ext cx="16315868" cy="57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Expected Output / MVP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802422"/>
            <a:ext cx="17230954" cy="48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The MVP should demonstrate: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25091"/>
            <a:ext cx="1522534" cy="55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sz="3666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Sender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039" y="3703104"/>
            <a:ext cx="10453849" cy="144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Enter a text message.</a:t>
            </a:r>
          </a:p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Broadcast the message acoustically.</a:t>
            </a:r>
          </a:p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Show transmission status.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381275"/>
            <a:ext cx="1906786" cy="58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5"/>
              </a:lnSpc>
            </a:pPr>
            <a:r>
              <a:rPr lang="en-US" sz="3690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Receiver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7039" y="6383099"/>
            <a:ext cx="10453849" cy="286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Listen through the microphone.</a:t>
            </a:r>
          </a:p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Detect the acoustic signal.</a:t>
            </a:r>
          </a:p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Decode the packet.</a:t>
            </a:r>
          </a:p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Verify CRC.</a:t>
            </a:r>
          </a:p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Display the received message.</a:t>
            </a:r>
          </a:p>
          <a:p>
            <a:pPr algn="l" marL="534476" indent="-267238" lvl="1">
              <a:lnSpc>
                <a:spcPts val="3824"/>
              </a:lnSpc>
              <a:buFont typeface="Arial"/>
              <a:buChar char="•"/>
            </a:pPr>
            <a:r>
              <a:rPr lang="en-US" sz="29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Send an acoustic ACK.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888895" y="2070183"/>
            <a:ext cx="5429336" cy="5429469"/>
            <a:chOff x="0" y="0"/>
            <a:chExt cx="7239114" cy="723929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239127" cy="7239254"/>
            </a:xfrm>
            <a:custGeom>
              <a:avLst/>
              <a:gdLst/>
              <a:ahLst/>
              <a:cxnLst/>
              <a:rect r="r" b="b" t="t" l="l"/>
              <a:pathLst>
                <a:path h="7239254" w="7239127">
                  <a:moveTo>
                    <a:pt x="0" y="0"/>
                  </a:moveTo>
                  <a:lnTo>
                    <a:pt x="7239127" y="0"/>
                  </a:lnTo>
                  <a:lnTo>
                    <a:pt x="7239127" y="7239254"/>
                  </a:lnTo>
                  <a:lnTo>
                    <a:pt x="0" y="7239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59102" y="6421199"/>
            <a:ext cx="1944461" cy="55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1"/>
              </a:lnSpc>
            </a:pPr>
            <a:r>
              <a:rPr lang="en-US" sz="3655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Example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59102" y="7461552"/>
            <a:ext cx="5429336" cy="77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351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Sender:</a:t>
            </a:r>
            <a:r>
              <a:rPr lang="en-US" sz="23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"Exam starts at 10 AM"</a:t>
            </a:r>
          </a:p>
          <a:p>
            <a:pPr algn="l">
              <a:lnSpc>
                <a:spcPts val="3046"/>
              </a:lnSpc>
            </a:pPr>
            <a:r>
              <a:rPr lang="en-US" sz="2351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Receivers: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59102" y="8413963"/>
            <a:ext cx="5429336" cy="115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810" indent="-212905" lvl="1">
              <a:lnSpc>
                <a:spcPts val="3046"/>
              </a:lnSpc>
              <a:buFont typeface="Arial"/>
              <a:buChar char="•"/>
            </a:pPr>
            <a:r>
              <a:rPr lang="en-US" sz="23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✓ Message received</a:t>
            </a:r>
          </a:p>
          <a:p>
            <a:pPr algn="l" marL="425810" indent="-212905" lvl="1">
              <a:lnSpc>
                <a:spcPts val="3046"/>
              </a:lnSpc>
              <a:buFont typeface="Arial"/>
              <a:buChar char="•"/>
            </a:pPr>
            <a:r>
              <a:rPr lang="en-US" sz="23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✓ CRC verified</a:t>
            </a:r>
          </a:p>
          <a:p>
            <a:pPr algn="l" marL="425810" indent="-212905" lvl="1">
              <a:lnSpc>
                <a:spcPts val="3046"/>
              </a:lnSpc>
              <a:buFont typeface="Arial"/>
              <a:buChar char="•"/>
            </a:pPr>
            <a:r>
              <a:rPr lang="en-US" sz="23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✓ ACK sent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37829"/>
            <a:ext cx="16315868" cy="73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4503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Innovation &amp;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035931"/>
            <a:ext cx="4704670" cy="36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4"/>
              </a:lnSpc>
            </a:pPr>
            <a:r>
              <a:rPr lang="en-US" sz="2351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What makes SonicCast different?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2611441"/>
            <a:ext cx="3854291" cy="2088499"/>
            <a:chOff x="0" y="0"/>
            <a:chExt cx="5139055" cy="27846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39055" cy="2784602"/>
            </a:xfrm>
            <a:custGeom>
              <a:avLst/>
              <a:gdLst/>
              <a:ahLst/>
              <a:cxnLst/>
              <a:rect r="r" b="b" t="t" l="l"/>
              <a:pathLst>
                <a:path h="2784602" w="5139055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009388" y="0"/>
                  </a:lnTo>
                  <a:cubicBezTo>
                    <a:pt x="5081016" y="0"/>
                    <a:pt x="5139055" y="58039"/>
                    <a:pt x="5139055" y="129667"/>
                  </a:cubicBezTo>
                  <a:lnTo>
                    <a:pt x="5139055" y="2654935"/>
                  </a:lnTo>
                  <a:cubicBezTo>
                    <a:pt x="5139055" y="2726563"/>
                    <a:pt x="5081016" y="2784602"/>
                    <a:pt x="5009388" y="2784602"/>
                  </a:cubicBezTo>
                  <a:lnTo>
                    <a:pt x="129667" y="2784602"/>
                  </a:lnTo>
                  <a:cubicBezTo>
                    <a:pt x="58039" y="2784729"/>
                    <a:pt x="0" y="2726563"/>
                    <a:pt x="0" y="2654935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2935" y="2856157"/>
            <a:ext cx="691534" cy="691553"/>
            <a:chOff x="0" y="0"/>
            <a:chExt cx="922045" cy="922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0" y="461010"/>
                  </a:moveTo>
                  <a:cubicBezTo>
                    <a:pt x="0" y="206375"/>
                    <a:pt x="206375" y="0"/>
                    <a:pt x="461010" y="0"/>
                  </a:cubicBezTo>
                  <a:cubicBezTo>
                    <a:pt x="715645" y="0"/>
                    <a:pt x="922020" y="206375"/>
                    <a:pt x="922020" y="461010"/>
                  </a:cubicBezTo>
                  <a:cubicBezTo>
                    <a:pt x="922020" y="715645"/>
                    <a:pt x="715645" y="922020"/>
                    <a:pt x="461010" y="922020"/>
                  </a:cubicBezTo>
                  <a:cubicBezTo>
                    <a:pt x="206375" y="922020"/>
                    <a:pt x="0" y="715645"/>
                    <a:pt x="0" y="461010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23130" y="3046209"/>
            <a:ext cx="311134" cy="311144"/>
          </a:xfrm>
          <a:custGeom>
            <a:avLst/>
            <a:gdLst/>
            <a:ahLst/>
            <a:cxnLst/>
            <a:rect r="r" b="b" t="t" l="l"/>
            <a:pathLst>
              <a:path h="311144" w="311134">
                <a:moveTo>
                  <a:pt x="0" y="0"/>
                </a:moveTo>
                <a:lnTo>
                  <a:pt x="311134" y="0"/>
                </a:lnTo>
                <a:lnTo>
                  <a:pt x="311134" y="311144"/>
                </a:lnTo>
                <a:lnTo>
                  <a:pt x="0" y="311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030" t="0" r="-303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2935" y="3725408"/>
            <a:ext cx="3364868" cy="72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404155"/>
                </a:solidFill>
                <a:latin typeface="Corben Bold"/>
                <a:ea typeface="Corben Bold"/>
                <a:cs typeface="Corben Bold"/>
                <a:sym typeface="Corben Bold"/>
              </a:rPr>
              <a:t>No Internet required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20199" y="2611441"/>
            <a:ext cx="3854291" cy="2088499"/>
            <a:chOff x="0" y="0"/>
            <a:chExt cx="5139055" cy="27846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9055" cy="2784602"/>
            </a:xfrm>
            <a:custGeom>
              <a:avLst/>
              <a:gdLst/>
              <a:ahLst/>
              <a:cxnLst/>
              <a:rect r="r" b="b" t="t" l="l"/>
              <a:pathLst>
                <a:path h="2784602" w="5139055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009388" y="0"/>
                  </a:lnTo>
                  <a:cubicBezTo>
                    <a:pt x="5081016" y="0"/>
                    <a:pt x="5139055" y="58039"/>
                    <a:pt x="5139055" y="129667"/>
                  </a:cubicBezTo>
                  <a:lnTo>
                    <a:pt x="5139055" y="2654935"/>
                  </a:lnTo>
                  <a:cubicBezTo>
                    <a:pt x="5139055" y="2726563"/>
                    <a:pt x="5081016" y="2784602"/>
                    <a:pt x="5009388" y="2784602"/>
                  </a:cubicBezTo>
                  <a:lnTo>
                    <a:pt x="129667" y="2784602"/>
                  </a:lnTo>
                  <a:cubicBezTo>
                    <a:pt x="58039" y="2784729"/>
                    <a:pt x="0" y="2726563"/>
                    <a:pt x="0" y="2654935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264906" y="2856157"/>
            <a:ext cx="691534" cy="691553"/>
            <a:chOff x="0" y="0"/>
            <a:chExt cx="922045" cy="9220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0" y="461010"/>
                  </a:moveTo>
                  <a:cubicBezTo>
                    <a:pt x="0" y="206375"/>
                    <a:pt x="206375" y="0"/>
                    <a:pt x="461010" y="0"/>
                  </a:cubicBezTo>
                  <a:cubicBezTo>
                    <a:pt x="715645" y="0"/>
                    <a:pt x="922020" y="206375"/>
                    <a:pt x="922020" y="461010"/>
                  </a:cubicBezTo>
                  <a:cubicBezTo>
                    <a:pt x="922020" y="715645"/>
                    <a:pt x="715645" y="922020"/>
                    <a:pt x="461010" y="922020"/>
                  </a:cubicBezTo>
                  <a:cubicBezTo>
                    <a:pt x="206375" y="922020"/>
                    <a:pt x="0" y="715645"/>
                    <a:pt x="0" y="461010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5455101" y="3046209"/>
            <a:ext cx="311134" cy="311144"/>
          </a:xfrm>
          <a:custGeom>
            <a:avLst/>
            <a:gdLst/>
            <a:ahLst/>
            <a:cxnLst/>
            <a:rect r="r" b="b" t="t" l="l"/>
            <a:pathLst>
              <a:path h="311144" w="311134">
                <a:moveTo>
                  <a:pt x="0" y="0"/>
                </a:moveTo>
                <a:lnTo>
                  <a:pt x="311134" y="0"/>
                </a:lnTo>
                <a:lnTo>
                  <a:pt x="311134" y="311144"/>
                </a:lnTo>
                <a:lnTo>
                  <a:pt x="0" y="311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264906" y="3725408"/>
            <a:ext cx="3364868" cy="36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404155"/>
                </a:solidFill>
                <a:latin typeface="Corben Bold"/>
                <a:ea typeface="Corben Bold"/>
                <a:cs typeface="Corben Bold"/>
                <a:sym typeface="Corben Bold"/>
              </a:rPr>
              <a:t>No Wi-Fi required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8219" y="4877638"/>
            <a:ext cx="3854291" cy="2088499"/>
            <a:chOff x="0" y="0"/>
            <a:chExt cx="5139055" cy="27846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39055" cy="2784602"/>
            </a:xfrm>
            <a:custGeom>
              <a:avLst/>
              <a:gdLst/>
              <a:ahLst/>
              <a:cxnLst/>
              <a:rect r="r" b="b" t="t" l="l"/>
              <a:pathLst>
                <a:path h="2784602" w="5139055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009388" y="0"/>
                  </a:lnTo>
                  <a:cubicBezTo>
                    <a:pt x="5081016" y="0"/>
                    <a:pt x="5139055" y="58039"/>
                    <a:pt x="5139055" y="129667"/>
                  </a:cubicBezTo>
                  <a:lnTo>
                    <a:pt x="5139055" y="2654935"/>
                  </a:lnTo>
                  <a:cubicBezTo>
                    <a:pt x="5139055" y="2726563"/>
                    <a:pt x="5081016" y="2784602"/>
                    <a:pt x="5009388" y="2784602"/>
                  </a:cubicBezTo>
                  <a:lnTo>
                    <a:pt x="129667" y="2784602"/>
                  </a:lnTo>
                  <a:cubicBezTo>
                    <a:pt x="58039" y="2784729"/>
                    <a:pt x="0" y="2726563"/>
                    <a:pt x="0" y="2654935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32935" y="5122354"/>
            <a:ext cx="691534" cy="691553"/>
            <a:chOff x="0" y="0"/>
            <a:chExt cx="922045" cy="922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0" y="461010"/>
                  </a:moveTo>
                  <a:cubicBezTo>
                    <a:pt x="0" y="206375"/>
                    <a:pt x="206375" y="0"/>
                    <a:pt x="461010" y="0"/>
                  </a:cubicBezTo>
                  <a:cubicBezTo>
                    <a:pt x="715645" y="0"/>
                    <a:pt x="922020" y="206375"/>
                    <a:pt x="922020" y="461010"/>
                  </a:cubicBezTo>
                  <a:cubicBezTo>
                    <a:pt x="922020" y="715645"/>
                    <a:pt x="715645" y="922020"/>
                    <a:pt x="461010" y="922020"/>
                  </a:cubicBezTo>
                  <a:cubicBezTo>
                    <a:pt x="206375" y="922020"/>
                    <a:pt x="0" y="715645"/>
                    <a:pt x="0" y="461010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423130" y="5312407"/>
            <a:ext cx="311134" cy="311144"/>
          </a:xfrm>
          <a:custGeom>
            <a:avLst/>
            <a:gdLst/>
            <a:ahLst/>
            <a:cxnLst/>
            <a:rect r="r" b="b" t="t" l="l"/>
            <a:pathLst>
              <a:path h="311144" w="311134">
                <a:moveTo>
                  <a:pt x="0" y="0"/>
                </a:moveTo>
                <a:lnTo>
                  <a:pt x="311134" y="0"/>
                </a:lnTo>
                <a:lnTo>
                  <a:pt x="311134" y="311143"/>
                </a:lnTo>
                <a:lnTo>
                  <a:pt x="0" y="311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9392" r="0" b="-39392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32935" y="5991596"/>
            <a:ext cx="3364868" cy="72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404155"/>
                </a:solidFill>
                <a:latin typeface="Corben Bold"/>
                <a:ea typeface="Corben Bold"/>
                <a:cs typeface="Corben Bold"/>
                <a:sym typeface="Corben Bold"/>
              </a:rPr>
              <a:t>No Bluetooth required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020199" y="4877638"/>
            <a:ext cx="3854291" cy="2088499"/>
            <a:chOff x="0" y="0"/>
            <a:chExt cx="5139055" cy="27846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39055" cy="2784602"/>
            </a:xfrm>
            <a:custGeom>
              <a:avLst/>
              <a:gdLst/>
              <a:ahLst/>
              <a:cxnLst/>
              <a:rect r="r" b="b" t="t" l="l"/>
              <a:pathLst>
                <a:path h="2784602" w="5139055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009388" y="0"/>
                  </a:lnTo>
                  <a:cubicBezTo>
                    <a:pt x="5081016" y="0"/>
                    <a:pt x="5139055" y="58039"/>
                    <a:pt x="5139055" y="129667"/>
                  </a:cubicBezTo>
                  <a:lnTo>
                    <a:pt x="5139055" y="2654935"/>
                  </a:lnTo>
                  <a:cubicBezTo>
                    <a:pt x="5139055" y="2726563"/>
                    <a:pt x="5081016" y="2784602"/>
                    <a:pt x="5009388" y="2784602"/>
                  </a:cubicBezTo>
                  <a:lnTo>
                    <a:pt x="129667" y="2784602"/>
                  </a:lnTo>
                  <a:cubicBezTo>
                    <a:pt x="58039" y="2784729"/>
                    <a:pt x="0" y="2726563"/>
                    <a:pt x="0" y="2654935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264906" y="5122354"/>
            <a:ext cx="691534" cy="691553"/>
            <a:chOff x="0" y="0"/>
            <a:chExt cx="922045" cy="922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0" y="461010"/>
                  </a:moveTo>
                  <a:cubicBezTo>
                    <a:pt x="0" y="206375"/>
                    <a:pt x="206375" y="0"/>
                    <a:pt x="461010" y="0"/>
                  </a:cubicBezTo>
                  <a:cubicBezTo>
                    <a:pt x="715645" y="0"/>
                    <a:pt x="922020" y="206375"/>
                    <a:pt x="922020" y="461010"/>
                  </a:cubicBezTo>
                  <a:cubicBezTo>
                    <a:pt x="922020" y="715645"/>
                    <a:pt x="715645" y="922020"/>
                    <a:pt x="461010" y="922020"/>
                  </a:cubicBezTo>
                  <a:cubicBezTo>
                    <a:pt x="206375" y="922020"/>
                    <a:pt x="0" y="715645"/>
                    <a:pt x="0" y="461010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5455101" y="5312407"/>
            <a:ext cx="311134" cy="311144"/>
          </a:xfrm>
          <a:custGeom>
            <a:avLst/>
            <a:gdLst/>
            <a:ahLst/>
            <a:cxnLst/>
            <a:rect r="r" b="b" t="t" l="l"/>
            <a:pathLst>
              <a:path h="311144" w="311134">
                <a:moveTo>
                  <a:pt x="0" y="0"/>
                </a:moveTo>
                <a:lnTo>
                  <a:pt x="311134" y="0"/>
                </a:lnTo>
                <a:lnTo>
                  <a:pt x="311134" y="311143"/>
                </a:lnTo>
                <a:lnTo>
                  <a:pt x="0" y="3111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061" t="0" r="-6064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264906" y="5991596"/>
            <a:ext cx="3364868" cy="72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404155"/>
                </a:solidFill>
                <a:latin typeface="Corben Bold"/>
                <a:ea typeface="Corben Bold"/>
                <a:cs typeface="Corben Bold"/>
                <a:sym typeface="Corben Bold"/>
              </a:rPr>
              <a:t>No backend server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8219" y="7143826"/>
            <a:ext cx="3854291" cy="2088499"/>
            <a:chOff x="0" y="0"/>
            <a:chExt cx="5139055" cy="27846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9055" cy="2784602"/>
            </a:xfrm>
            <a:custGeom>
              <a:avLst/>
              <a:gdLst/>
              <a:ahLst/>
              <a:cxnLst/>
              <a:rect r="r" b="b" t="t" l="l"/>
              <a:pathLst>
                <a:path h="2784602" w="5139055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009388" y="0"/>
                  </a:lnTo>
                  <a:cubicBezTo>
                    <a:pt x="5081016" y="0"/>
                    <a:pt x="5139055" y="58039"/>
                    <a:pt x="5139055" y="129667"/>
                  </a:cubicBezTo>
                  <a:lnTo>
                    <a:pt x="5139055" y="2654935"/>
                  </a:lnTo>
                  <a:cubicBezTo>
                    <a:pt x="5139055" y="2726563"/>
                    <a:pt x="5081016" y="2784602"/>
                    <a:pt x="5009388" y="2784602"/>
                  </a:cubicBezTo>
                  <a:lnTo>
                    <a:pt x="129667" y="2784602"/>
                  </a:lnTo>
                  <a:cubicBezTo>
                    <a:pt x="58039" y="2784729"/>
                    <a:pt x="0" y="2726563"/>
                    <a:pt x="0" y="2654935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2935" y="7388543"/>
            <a:ext cx="691534" cy="691553"/>
            <a:chOff x="0" y="0"/>
            <a:chExt cx="922045" cy="922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0" y="461010"/>
                  </a:moveTo>
                  <a:cubicBezTo>
                    <a:pt x="0" y="206375"/>
                    <a:pt x="206375" y="0"/>
                    <a:pt x="461010" y="0"/>
                  </a:cubicBezTo>
                  <a:cubicBezTo>
                    <a:pt x="715645" y="0"/>
                    <a:pt x="922020" y="206375"/>
                    <a:pt x="922020" y="461010"/>
                  </a:cubicBezTo>
                  <a:cubicBezTo>
                    <a:pt x="922020" y="715645"/>
                    <a:pt x="715645" y="922020"/>
                    <a:pt x="461010" y="922020"/>
                  </a:cubicBezTo>
                  <a:cubicBezTo>
                    <a:pt x="206375" y="922020"/>
                    <a:pt x="0" y="715645"/>
                    <a:pt x="0" y="461010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423130" y="7578595"/>
            <a:ext cx="311134" cy="311144"/>
          </a:xfrm>
          <a:custGeom>
            <a:avLst/>
            <a:gdLst/>
            <a:ahLst/>
            <a:cxnLst/>
            <a:rect r="r" b="b" t="t" l="l"/>
            <a:pathLst>
              <a:path h="311144" w="311134">
                <a:moveTo>
                  <a:pt x="0" y="0"/>
                </a:moveTo>
                <a:lnTo>
                  <a:pt x="311134" y="0"/>
                </a:lnTo>
                <a:lnTo>
                  <a:pt x="311134" y="311143"/>
                </a:lnTo>
                <a:lnTo>
                  <a:pt x="0" y="3111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7573" r="0" b="-7576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32935" y="8257784"/>
            <a:ext cx="3364868" cy="36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404155"/>
                </a:solidFill>
                <a:latin typeface="Corben Bold"/>
                <a:ea typeface="Corben Bold"/>
                <a:cs typeface="Corben Bold"/>
                <a:sym typeface="Corben Bold"/>
              </a:rPr>
              <a:t>No database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020199" y="7143826"/>
            <a:ext cx="3854291" cy="2088499"/>
            <a:chOff x="0" y="0"/>
            <a:chExt cx="5139055" cy="27846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39055" cy="2784602"/>
            </a:xfrm>
            <a:custGeom>
              <a:avLst/>
              <a:gdLst/>
              <a:ahLst/>
              <a:cxnLst/>
              <a:rect r="r" b="b" t="t" l="l"/>
              <a:pathLst>
                <a:path h="2784602" w="5139055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5009388" y="0"/>
                  </a:lnTo>
                  <a:cubicBezTo>
                    <a:pt x="5081016" y="0"/>
                    <a:pt x="5139055" y="58039"/>
                    <a:pt x="5139055" y="129667"/>
                  </a:cubicBezTo>
                  <a:lnTo>
                    <a:pt x="5139055" y="2654935"/>
                  </a:lnTo>
                  <a:cubicBezTo>
                    <a:pt x="5139055" y="2726563"/>
                    <a:pt x="5081016" y="2784602"/>
                    <a:pt x="5009388" y="2784602"/>
                  </a:cubicBezTo>
                  <a:lnTo>
                    <a:pt x="129667" y="2784602"/>
                  </a:lnTo>
                  <a:cubicBezTo>
                    <a:pt x="58039" y="2784729"/>
                    <a:pt x="0" y="2726563"/>
                    <a:pt x="0" y="2654935"/>
                  </a:cubicBezTo>
                  <a:close/>
                </a:path>
              </a:pathLst>
            </a:custGeom>
            <a:solidFill>
              <a:srgbClr val="D2D9F9"/>
            </a:solidFill>
            <a:ln w="9532" cap="sq">
              <a:solidFill>
                <a:srgbClr val="B8BFD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264906" y="7388543"/>
            <a:ext cx="691534" cy="691553"/>
            <a:chOff x="0" y="0"/>
            <a:chExt cx="922045" cy="9220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0" y="461010"/>
                  </a:moveTo>
                  <a:cubicBezTo>
                    <a:pt x="0" y="206375"/>
                    <a:pt x="206375" y="0"/>
                    <a:pt x="461010" y="0"/>
                  </a:cubicBezTo>
                  <a:cubicBezTo>
                    <a:pt x="715645" y="0"/>
                    <a:pt x="922020" y="206375"/>
                    <a:pt x="922020" y="461010"/>
                  </a:cubicBezTo>
                  <a:cubicBezTo>
                    <a:pt x="922020" y="715645"/>
                    <a:pt x="715645" y="922020"/>
                    <a:pt x="461010" y="922020"/>
                  </a:cubicBezTo>
                  <a:cubicBezTo>
                    <a:pt x="206375" y="922020"/>
                    <a:pt x="0" y="715645"/>
                    <a:pt x="0" y="461010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42" id="42" descr="preencoded.png"/>
          <p:cNvSpPr/>
          <p:nvPr/>
        </p:nvSpPr>
        <p:spPr>
          <a:xfrm flipH="false" flipV="false" rot="0">
            <a:off x="5455101" y="7578595"/>
            <a:ext cx="311134" cy="311144"/>
          </a:xfrm>
          <a:custGeom>
            <a:avLst/>
            <a:gdLst/>
            <a:ahLst/>
            <a:cxnLst/>
            <a:rect r="r" b="b" t="t" l="l"/>
            <a:pathLst>
              <a:path h="311144" w="311134">
                <a:moveTo>
                  <a:pt x="0" y="0"/>
                </a:moveTo>
                <a:lnTo>
                  <a:pt x="311134" y="0"/>
                </a:lnTo>
                <a:lnTo>
                  <a:pt x="311134" y="311143"/>
                </a:lnTo>
                <a:lnTo>
                  <a:pt x="0" y="3111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264906" y="8257784"/>
            <a:ext cx="3364868" cy="72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404155"/>
                </a:solidFill>
                <a:latin typeface="Corben Bold"/>
                <a:ea typeface="Corben Bold"/>
                <a:cs typeface="Corben Bold"/>
                <a:sym typeface="Corben Bold"/>
              </a:rPr>
              <a:t>No external hardware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19632" y="1822359"/>
            <a:ext cx="1879317" cy="43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851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Innovation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84090" y="2734776"/>
            <a:ext cx="7876727" cy="125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3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SonicCast transforms the smartphone's existing </a:t>
            </a:r>
            <a:r>
              <a:rPr lang="en-US" sz="2301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Speaker + Microphone</a:t>
            </a:r>
            <a:r>
              <a:rPr lang="en-US" sz="23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into a short-range digital communication channel.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84090" y="4320740"/>
            <a:ext cx="3495165" cy="42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9"/>
              </a:lnSpc>
            </a:pPr>
            <a:r>
              <a:rPr lang="en-US" sz="2651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Potential Applications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82573" y="5242865"/>
            <a:ext cx="7876727" cy="273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042" indent="-226521" lvl="1">
              <a:lnSpc>
                <a:spcPts val="3632"/>
              </a:lnSpc>
              <a:buFont typeface="Arial"/>
              <a:buChar char="•"/>
            </a:pPr>
            <a:r>
              <a:rPr lang="en-US" sz="25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Emergency communication</a:t>
            </a:r>
          </a:p>
          <a:p>
            <a:pPr algn="l" marL="453042" indent="-226521" lvl="1">
              <a:lnSpc>
                <a:spcPts val="3632"/>
              </a:lnSpc>
              <a:buFont typeface="Arial"/>
              <a:buChar char="•"/>
            </a:pPr>
            <a:r>
              <a:rPr lang="en-US" sz="25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Offline classroom announcements</a:t>
            </a:r>
          </a:p>
          <a:p>
            <a:pPr algn="l" marL="453042" indent="-226521" lvl="1">
              <a:lnSpc>
                <a:spcPts val="3632"/>
              </a:lnSpc>
              <a:buFont typeface="Arial"/>
              <a:buChar char="•"/>
            </a:pPr>
            <a:r>
              <a:rPr lang="en-US" sz="25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Local device-to-device messaging</a:t>
            </a:r>
          </a:p>
          <a:p>
            <a:pPr algn="l" marL="453042" indent="-226521" lvl="1">
              <a:lnSpc>
                <a:spcPts val="3632"/>
              </a:lnSpc>
              <a:buFont typeface="Arial"/>
              <a:buChar char="•"/>
            </a:pPr>
            <a:r>
              <a:rPr lang="en-US" sz="25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Remote or low-connectivity environments</a:t>
            </a:r>
          </a:p>
          <a:p>
            <a:pPr algn="l" marL="453042" indent="-226521" lvl="1">
              <a:lnSpc>
                <a:spcPts val="3632"/>
              </a:lnSpc>
              <a:buFont typeface="Arial"/>
              <a:buChar char="•"/>
            </a:pPr>
            <a:r>
              <a:rPr lang="en-US" sz="25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Disaster-response experiments</a:t>
            </a:r>
          </a:p>
          <a:p>
            <a:pPr algn="l" marL="453042" indent="-226521" lvl="1">
              <a:lnSpc>
                <a:spcPts val="3632"/>
              </a:lnSpc>
              <a:buFont typeface="Arial"/>
              <a:buChar char="•"/>
            </a:pPr>
            <a:r>
              <a:rPr lang="en-US" sz="250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Acoustic networking research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9736"/>
            <a:ext cx="16315868" cy="68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Team Roles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783013"/>
            <a:ext cx="3545538" cy="3545624"/>
            <a:chOff x="0" y="0"/>
            <a:chExt cx="4727384" cy="472749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727321" cy="4727448"/>
            </a:xfrm>
            <a:custGeom>
              <a:avLst/>
              <a:gdLst/>
              <a:ahLst/>
              <a:cxnLst/>
              <a:rect r="r" b="b" t="t" l="l"/>
              <a:pathLst>
                <a:path h="4727448" w="4727321">
                  <a:moveTo>
                    <a:pt x="0" y="0"/>
                  </a:moveTo>
                  <a:lnTo>
                    <a:pt x="4727321" y="0"/>
                  </a:lnTo>
                  <a:lnTo>
                    <a:pt x="4727321" y="4727448"/>
                  </a:lnTo>
                  <a:lnTo>
                    <a:pt x="0" y="472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2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5361851"/>
            <a:ext cx="3178714" cy="32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212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Selvamuthukkumaran 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6039993"/>
            <a:ext cx="3374250" cy="323212"/>
            <a:chOff x="0" y="0"/>
            <a:chExt cx="4499000" cy="4309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102" cy="431038"/>
            </a:xfrm>
            <a:custGeom>
              <a:avLst/>
              <a:gdLst/>
              <a:ahLst/>
              <a:cxnLst/>
              <a:rect r="r" b="b" t="t" l="l"/>
              <a:pathLst>
                <a:path h="431038" w="4499102">
                  <a:moveTo>
                    <a:pt x="0" y="95377"/>
                  </a:moveTo>
                  <a:cubicBezTo>
                    <a:pt x="0" y="42672"/>
                    <a:pt x="42672" y="0"/>
                    <a:pt x="95377" y="0"/>
                  </a:cubicBezTo>
                  <a:lnTo>
                    <a:pt x="4403725" y="0"/>
                  </a:lnTo>
                  <a:cubicBezTo>
                    <a:pt x="4456430" y="0"/>
                    <a:pt x="4499102" y="42672"/>
                    <a:pt x="4499102" y="95377"/>
                  </a:cubicBezTo>
                  <a:lnTo>
                    <a:pt x="4499102" y="335661"/>
                  </a:lnTo>
                  <a:cubicBezTo>
                    <a:pt x="4499102" y="388366"/>
                    <a:pt x="4456430" y="431038"/>
                    <a:pt x="4403725" y="431038"/>
                  </a:cubicBezTo>
                  <a:lnTo>
                    <a:pt x="95377" y="431038"/>
                  </a:lnTo>
                  <a:cubicBezTo>
                    <a:pt x="42672" y="430911"/>
                    <a:pt x="0" y="388239"/>
                    <a:pt x="0" y="335661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20626" y="6094219"/>
            <a:ext cx="3118971" cy="20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75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TECHNICAL / SYSTEM DEVELOPMENT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6485534"/>
            <a:ext cx="8058140" cy="21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React frontend development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JavaScript application logic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Packet encoding and decoding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CRC-16 implementation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4-FSK communication logic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System integration and testing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0566" y="1783013"/>
            <a:ext cx="3545538" cy="3545624"/>
            <a:chOff x="0" y="0"/>
            <a:chExt cx="4727384" cy="472749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7321" cy="4727448"/>
            </a:xfrm>
            <a:custGeom>
              <a:avLst/>
              <a:gdLst/>
              <a:ahLst/>
              <a:cxnLst/>
              <a:rect r="r" b="b" t="t" l="l"/>
              <a:pathLst>
                <a:path h="4727448" w="4727321">
                  <a:moveTo>
                    <a:pt x="0" y="0"/>
                  </a:moveTo>
                  <a:lnTo>
                    <a:pt x="4727321" y="0"/>
                  </a:lnTo>
                  <a:lnTo>
                    <a:pt x="4727321" y="4727448"/>
                  </a:lnTo>
                  <a:lnTo>
                    <a:pt x="0" y="472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50566" y="5528072"/>
            <a:ext cx="1307136" cy="32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2126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Salma A 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50566" y="6039993"/>
            <a:ext cx="3170653" cy="323212"/>
            <a:chOff x="0" y="0"/>
            <a:chExt cx="4227538" cy="4309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27576" cy="431038"/>
            </a:xfrm>
            <a:custGeom>
              <a:avLst/>
              <a:gdLst/>
              <a:ahLst/>
              <a:cxnLst/>
              <a:rect r="r" b="b" t="t" l="l"/>
              <a:pathLst>
                <a:path h="431038" w="4227576">
                  <a:moveTo>
                    <a:pt x="0" y="95377"/>
                  </a:moveTo>
                  <a:cubicBezTo>
                    <a:pt x="0" y="42672"/>
                    <a:pt x="42672" y="0"/>
                    <a:pt x="95377" y="0"/>
                  </a:cubicBezTo>
                  <a:lnTo>
                    <a:pt x="4132199" y="0"/>
                  </a:lnTo>
                  <a:cubicBezTo>
                    <a:pt x="4184904" y="0"/>
                    <a:pt x="4227576" y="42672"/>
                    <a:pt x="4227576" y="95377"/>
                  </a:cubicBezTo>
                  <a:lnTo>
                    <a:pt x="4227576" y="335661"/>
                  </a:lnTo>
                  <a:cubicBezTo>
                    <a:pt x="4227576" y="388366"/>
                    <a:pt x="4184904" y="431038"/>
                    <a:pt x="4132199" y="431038"/>
                  </a:cubicBezTo>
                  <a:lnTo>
                    <a:pt x="95377" y="431038"/>
                  </a:lnTo>
                  <a:cubicBezTo>
                    <a:pt x="42672" y="430911"/>
                    <a:pt x="0" y="388239"/>
                    <a:pt x="0" y="335661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378201" y="6094219"/>
            <a:ext cx="2915364" cy="20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75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ANDROID / UI &amp; DOCUMENTATION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50566" y="6485534"/>
            <a:ext cx="8058293" cy="212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React UI and CSS design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Capacitor Android integration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Kotlin native audio implementation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AudioTrack / AudioRecord integration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Testing and debugging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Documentation and presentation preparation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991" y="8788765"/>
            <a:ext cx="16315868" cy="707336"/>
            <a:chOff x="0" y="0"/>
            <a:chExt cx="21754490" cy="9431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54464" cy="943102"/>
            </a:xfrm>
            <a:custGeom>
              <a:avLst/>
              <a:gdLst/>
              <a:ahLst/>
              <a:cxnLst/>
              <a:rect r="r" b="b" t="t" l="l"/>
              <a:pathLst>
                <a:path h="943102" w="2175446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21635338" y="0"/>
                  </a:lnTo>
                  <a:cubicBezTo>
                    <a:pt x="21701125" y="0"/>
                    <a:pt x="21754464" y="53340"/>
                    <a:pt x="21754464" y="119126"/>
                  </a:cubicBezTo>
                  <a:lnTo>
                    <a:pt x="21754464" y="823976"/>
                  </a:lnTo>
                  <a:cubicBezTo>
                    <a:pt x="21754464" y="889762"/>
                    <a:pt x="21701125" y="943102"/>
                    <a:pt x="21635338" y="943102"/>
                  </a:cubicBezTo>
                  <a:lnTo>
                    <a:pt x="119126" y="943102"/>
                  </a:lnTo>
                  <a:cubicBezTo>
                    <a:pt x="53340" y="943102"/>
                    <a:pt x="0" y="889762"/>
                    <a:pt x="0" y="823976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5674" y="9024995"/>
            <a:ext cx="266005" cy="212693"/>
            <a:chOff x="0" y="0"/>
            <a:chExt cx="354673" cy="283591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54711" cy="283591"/>
            </a:xfrm>
            <a:custGeom>
              <a:avLst/>
              <a:gdLst/>
              <a:ahLst/>
              <a:cxnLst/>
              <a:rect r="r" b="b" t="t" l="l"/>
              <a:pathLst>
                <a:path h="283591" w="354711">
                  <a:moveTo>
                    <a:pt x="0" y="0"/>
                  </a:moveTo>
                  <a:lnTo>
                    <a:pt x="354711" y="0"/>
                  </a:lnTo>
                  <a:lnTo>
                    <a:pt x="354711" y="283591"/>
                  </a:lnTo>
                  <a:lnTo>
                    <a:pt x="0" y="28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65" r="10" b="-1365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84372" y="8944308"/>
            <a:ext cx="16326888" cy="3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Responsibility:</a:t>
            </a:r>
            <a:r>
              <a:rPr lang="en-US" sz="16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Both members: Research • Testing • Integration • Problem Solving • Final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40362"/>
            <a:ext cx="16315868" cy="850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Conclusion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094081"/>
            <a:ext cx="17230954" cy="44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An offline acoustic one-to-many communication system for smartphones.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975610"/>
            <a:ext cx="16315868" cy="41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Core 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3670068"/>
            <a:ext cx="17230954" cy="46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24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React + JavaScript + CSS → Capacitor → Kotlin → 4-FSK Acoustic Communication → CRC-16 + ACK + Retransmission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4551597"/>
            <a:ext cx="16315868" cy="41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Future Scope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92632" y="5354403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2" y="0"/>
                </a:lnTo>
                <a:lnTo>
                  <a:pt x="399012" y="399021"/>
                </a:lnTo>
                <a:lnTo>
                  <a:pt x="0" y="399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57442" y="5255571"/>
            <a:ext cx="7137540" cy="84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2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Improve communication range and increase transmission speed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406357" y="5354403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1" y="0"/>
                </a:lnTo>
                <a:lnTo>
                  <a:pt x="399011" y="399021"/>
                </a:lnTo>
                <a:lnTo>
                  <a:pt x="0" y="399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71166" y="5246046"/>
            <a:ext cx="7137692" cy="90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Add stronger FEC algorithms and improve noise filtering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092632" y="6677625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2" y="0"/>
                </a:lnTo>
                <a:lnTo>
                  <a:pt x="399012" y="399021"/>
                </a:lnTo>
                <a:lnTo>
                  <a:pt x="0" y="399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57442" y="6569269"/>
            <a:ext cx="7137540" cy="90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Support larger data packets and multiple message types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406357" y="6677625"/>
            <a:ext cx="399012" cy="399021"/>
          </a:xfrm>
          <a:custGeom>
            <a:avLst/>
            <a:gdLst/>
            <a:ahLst/>
            <a:cxnLst/>
            <a:rect r="r" b="b" t="t" l="l"/>
            <a:pathLst>
              <a:path h="399021" w="399012">
                <a:moveTo>
                  <a:pt x="0" y="0"/>
                </a:moveTo>
                <a:lnTo>
                  <a:pt x="399011" y="0"/>
                </a:lnTo>
                <a:lnTo>
                  <a:pt x="399011" y="399021"/>
                </a:lnTo>
                <a:lnTo>
                  <a:pt x="0" y="399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35" t="0" r="-833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71166" y="6569269"/>
            <a:ext cx="7137692" cy="90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3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Improve automatic receiver detection and optimize performance across different smartphone models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2003" y="7964281"/>
            <a:ext cx="16831942" cy="41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2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"SonicCast — Connecting smartphones through sound, even without a network."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7769543"/>
            <a:ext cx="28594" cy="973207"/>
            <a:chOff x="0" y="0"/>
            <a:chExt cx="38125" cy="12976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" cy="1297559"/>
            </a:xfrm>
            <a:custGeom>
              <a:avLst/>
              <a:gdLst/>
              <a:ahLst/>
              <a:cxnLst/>
              <a:rect r="r" b="b" t="t" l="l"/>
              <a:pathLst>
                <a:path h="129755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78509"/>
                  </a:lnTo>
                  <a:cubicBezTo>
                    <a:pt x="38100" y="1289050"/>
                    <a:pt x="29591" y="1297559"/>
                    <a:pt x="19050" y="1297559"/>
                  </a:cubicBezTo>
                  <a:cubicBezTo>
                    <a:pt x="8509" y="1297559"/>
                    <a:pt x="0" y="1289050"/>
                    <a:pt x="0" y="1278509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35438" y="8947004"/>
            <a:ext cx="17230954" cy="39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1"/>
              </a:lnSpc>
            </a:pPr>
            <a:r>
              <a:rPr lang="en-US" sz="21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Team Sparkz</a:t>
            </a:r>
            <a:r>
              <a:rPr lang="en-US" sz="2126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 |  </a:t>
            </a:r>
            <a:r>
              <a:rPr lang="en-US" sz="2126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Manakula Vinayagar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DAHUr0LA33k</dc:identifier>
  <dcterms:modified xsi:type="dcterms:W3CDTF">2011-08-01T06:04:30Z</dcterms:modified>
  <cp:revision>1</cp:revision>
  <dc:title>SonicCast-Acoustic-One-to-Many-Communication.pptx</dc:title>
</cp:coreProperties>
</file>